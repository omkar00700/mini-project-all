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7" r:id="rId2"/>
    <p:sldId id="258" r:id="rId3"/>
    <p:sldId id="259" r:id="rId4"/>
    <p:sldId id="277" r:id="rId5"/>
    <p:sldId id="260" r:id="rId6"/>
    <p:sldId id="261" r:id="rId7"/>
    <p:sldId id="262" r:id="rId8"/>
    <p:sldId id="263" r:id="rId9"/>
    <p:sldId id="264" r:id="rId10"/>
    <p:sldId id="266" r:id="rId11"/>
    <p:sldId id="276" r:id="rId12"/>
    <p:sldId id="27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p:cViewPr varScale="1">
        <p:scale>
          <a:sx n="79" d="100"/>
          <a:sy n="79" d="100"/>
        </p:scale>
        <p:origin x="6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FF19EA9-EBC0-4B87-A895-167529D13255}" type="datetimeFigureOut">
              <a:rPr lang="en-IN" smtClean="0"/>
              <a:t>03-08-2023</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1778594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F19EA9-EBC0-4B87-A895-167529D13255}"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3191060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F19EA9-EBC0-4B87-A895-167529D13255}"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2200363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F19EA9-EBC0-4B87-A895-167529D13255}"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3954420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F19EA9-EBC0-4B87-A895-167529D13255}" type="datetimeFigureOut">
              <a:rPr lang="en-IN" smtClean="0"/>
              <a:t>03-08-2023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3549081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F19EA9-EBC0-4B87-A895-167529D13255}" type="datetimeFigureOut">
              <a:rPr lang="en-IN" smtClean="0"/>
              <a:t>03-08-2023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2252048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F19EA9-EBC0-4B87-A895-167529D13255}" type="datetimeFigureOut">
              <a:rPr lang="en-IN" smtClean="0"/>
              <a:t>03-08-2023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3960613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F19EA9-EBC0-4B87-A895-167529D13255}"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1515337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F19EA9-EBC0-4B87-A895-167529D13255}"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2649940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F19EA9-EBC0-4B87-A895-167529D13255}"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2667177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F19EA9-EBC0-4B87-A895-167529D13255}"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2442413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F19EA9-EBC0-4B87-A895-167529D13255}"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6C8838-2D67-4D1B-B8EC-184E37483091}"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99456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F19EA9-EBC0-4B87-A895-167529D13255}" type="datetimeFigureOut">
              <a:rPr lang="en-IN" smtClean="0"/>
              <a:t>03-08-2023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21952958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FF19EA9-EBC0-4B87-A895-167529D13255}" type="datetimeFigureOut">
              <a:rPr lang="en-IN" smtClean="0"/>
              <a:t>03-08-2023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30904242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FF19EA9-EBC0-4B87-A895-167529D13255}" type="datetimeFigureOut">
              <a:rPr lang="en-IN" smtClean="0"/>
              <a:t>03-08-2023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22502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F19EA9-EBC0-4B87-A895-167529D13255}"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9594106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F19EA9-EBC0-4B87-A895-167529D13255}" type="datetimeFigureOut">
              <a:rPr lang="en-IN" smtClean="0"/>
              <a:t>03-08-2023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6C8838-2D67-4D1B-B8EC-184E37483091}" type="slidenum">
              <a:rPr lang="en-IN" smtClean="0"/>
              <a:t>‹#›</a:t>
            </a:fld>
            <a:endParaRPr lang="en-IN"/>
          </a:p>
        </p:txBody>
      </p:sp>
    </p:spTree>
    <p:extLst>
      <p:ext uri="{BB962C8B-B14F-4D97-AF65-F5344CB8AC3E}">
        <p14:creationId xmlns:p14="http://schemas.microsoft.com/office/powerpoint/2010/main" val="994108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FF19EA9-EBC0-4B87-A895-167529D13255}" type="datetimeFigureOut">
              <a:rPr lang="en-IN" smtClean="0"/>
              <a:t>03-08-2023</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06C8838-2D67-4D1B-B8EC-184E37483091}" type="slidenum">
              <a:rPr lang="en-IN" smtClean="0"/>
              <a:t>‹#›</a:t>
            </a:fld>
            <a:endParaRPr lang="en-IN"/>
          </a:p>
        </p:txBody>
      </p:sp>
    </p:spTree>
    <p:extLst>
      <p:ext uri="{BB962C8B-B14F-4D97-AF65-F5344CB8AC3E}">
        <p14:creationId xmlns:p14="http://schemas.microsoft.com/office/powerpoint/2010/main" val="8244942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AEDB37-718D-652E-0CB8-F4D0DAC01667}"/>
              </a:ext>
            </a:extLst>
          </p:cNvPr>
          <p:cNvSpPr txBox="1"/>
          <p:nvPr/>
        </p:nvSpPr>
        <p:spPr>
          <a:xfrm>
            <a:off x="1778000" y="735366"/>
            <a:ext cx="6096000" cy="769441"/>
          </a:xfrm>
          <a:prstGeom prst="rect">
            <a:avLst/>
          </a:prstGeom>
          <a:noFill/>
        </p:spPr>
        <p:txBody>
          <a:bodyPr wrap="square">
            <a:spAutoFit/>
          </a:bodyPr>
          <a:lstStyle/>
          <a:p>
            <a:pPr algn="l"/>
            <a:r>
              <a:rPr lang="en-IN" sz="4400" b="1" dirty="0">
                <a:solidFill>
                  <a:srgbClr val="222222"/>
                </a:solidFill>
                <a:latin typeface="Lato" panose="020F0502020204030203" pitchFamily="34" charset="0"/>
              </a:rPr>
              <a:t>Mini Project-5 Sem</a:t>
            </a:r>
            <a:endParaRPr lang="en-IN" sz="4400" b="1" i="0" dirty="0">
              <a:solidFill>
                <a:srgbClr val="222222"/>
              </a:solidFill>
              <a:effectLst/>
              <a:latin typeface="Lato" panose="020F0502020204030203" pitchFamily="34" charset="0"/>
            </a:endParaRPr>
          </a:p>
        </p:txBody>
      </p:sp>
      <p:sp>
        <p:nvSpPr>
          <p:cNvPr id="7" name="TextBox 6">
            <a:extLst>
              <a:ext uri="{FF2B5EF4-FFF2-40B4-BE49-F238E27FC236}">
                <a16:creationId xmlns:a16="http://schemas.microsoft.com/office/drawing/2014/main" id="{B7036504-761C-8323-D98E-6946AE8AA43A}"/>
              </a:ext>
            </a:extLst>
          </p:cNvPr>
          <p:cNvSpPr txBox="1"/>
          <p:nvPr/>
        </p:nvSpPr>
        <p:spPr>
          <a:xfrm>
            <a:off x="3386667" y="3570577"/>
            <a:ext cx="6104466" cy="1346138"/>
          </a:xfrm>
          <a:prstGeom prst="rect">
            <a:avLst/>
          </a:prstGeom>
          <a:noFill/>
        </p:spPr>
        <p:txBody>
          <a:bodyPr wrap="square">
            <a:spAutoFit/>
          </a:bodyPr>
          <a:lstStyle/>
          <a:p>
            <a:pPr algn="ctr" rtl="0">
              <a:lnSpc>
                <a:spcPct val="115000"/>
              </a:lnSpc>
            </a:pPr>
            <a:br>
              <a:rPr lang="en-IN" dirty="0">
                <a:effectLst/>
              </a:rPr>
            </a:br>
            <a:endParaRPr lang="en-IN" dirty="0">
              <a:effectLst/>
            </a:endParaRPr>
          </a:p>
          <a:p>
            <a:pPr algn="l" rtl="0">
              <a:lnSpc>
                <a:spcPct val="115000"/>
              </a:lnSpc>
            </a:pPr>
            <a:br>
              <a:rPr lang="en-IN" dirty="0">
                <a:effectLst/>
              </a:rPr>
            </a:br>
            <a:endParaRPr lang="en-IN" dirty="0">
              <a:effectLst/>
            </a:endParaRPr>
          </a:p>
        </p:txBody>
      </p:sp>
      <p:sp>
        <p:nvSpPr>
          <p:cNvPr id="2" name="Rectangle: Rounded Corners 1">
            <a:extLst>
              <a:ext uri="{FF2B5EF4-FFF2-40B4-BE49-F238E27FC236}">
                <a16:creationId xmlns:a16="http://schemas.microsoft.com/office/drawing/2014/main" id="{1C735F35-7105-1D3D-A999-088BE5471839}"/>
              </a:ext>
            </a:extLst>
          </p:cNvPr>
          <p:cNvSpPr/>
          <p:nvPr/>
        </p:nvSpPr>
        <p:spPr>
          <a:xfrm>
            <a:off x="3751580" y="2503226"/>
            <a:ext cx="5374640" cy="15683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IN" sz="4400" b="1" i="0" dirty="0">
                <a:solidFill>
                  <a:srgbClr val="222222"/>
                </a:solidFill>
                <a:effectLst/>
                <a:latin typeface="Lato" panose="020F0502020204030203" pitchFamily="34" charset="0"/>
              </a:rPr>
              <a:t>Face Recognition Attendance System</a:t>
            </a:r>
          </a:p>
        </p:txBody>
      </p:sp>
    </p:spTree>
    <p:extLst>
      <p:ext uri="{BB962C8B-B14F-4D97-AF65-F5344CB8AC3E}">
        <p14:creationId xmlns:p14="http://schemas.microsoft.com/office/powerpoint/2010/main" val="975729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84E9A6B-7035-F5F1-9667-064420E80DA2}"/>
              </a:ext>
            </a:extLst>
          </p:cNvPr>
          <p:cNvSpPr/>
          <p:nvPr/>
        </p:nvSpPr>
        <p:spPr>
          <a:xfrm>
            <a:off x="1202267" y="1168400"/>
            <a:ext cx="9956800" cy="4758267"/>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l" rtl="0">
              <a:lnSpc>
                <a:spcPct val="115000"/>
              </a:lnSpc>
            </a:pPr>
            <a:r>
              <a:rPr lang="en-IN" sz="2800" dirty="0">
                <a:effectLst/>
                <a:latin typeface="Times New Roman, serif"/>
              </a:rPr>
              <a:t> </a:t>
            </a:r>
            <a:r>
              <a:rPr lang="en-IN" sz="2800" dirty="0">
                <a:latin typeface="Times New Roman, serif"/>
              </a:rPr>
              <a:t>Project</a:t>
            </a:r>
            <a:r>
              <a:rPr lang="en-IN" sz="2800" dirty="0">
                <a:effectLst/>
                <a:latin typeface="Times New Roman, serif"/>
              </a:rPr>
              <a:t> by:                                                                Roll no:</a:t>
            </a:r>
            <a:endParaRPr lang="en-IN" sz="2800" dirty="0">
              <a:effectLst/>
            </a:endParaRPr>
          </a:p>
          <a:p>
            <a:pPr algn="l" rtl="0">
              <a:lnSpc>
                <a:spcPct val="115000"/>
              </a:lnSpc>
            </a:pPr>
            <a:br>
              <a:rPr lang="en-IN" sz="2800" dirty="0">
                <a:effectLst/>
              </a:rPr>
            </a:br>
            <a:r>
              <a:rPr lang="en-IN" sz="2800" dirty="0">
                <a:latin typeface="Times New Roman, serif"/>
              </a:rPr>
              <a:t>Omkar Rasal           </a:t>
            </a:r>
            <a:r>
              <a:rPr lang="en-IN" sz="2800" dirty="0">
                <a:effectLst/>
                <a:latin typeface="Times New Roman, serif"/>
              </a:rPr>
              <a:t>                                                   2215023</a:t>
            </a:r>
            <a:endParaRPr lang="en-IN" sz="2800" dirty="0">
              <a:effectLst/>
            </a:endParaRPr>
          </a:p>
          <a:p>
            <a:pPr algn="l" rtl="0">
              <a:lnSpc>
                <a:spcPct val="115000"/>
              </a:lnSpc>
            </a:pPr>
            <a:r>
              <a:rPr lang="en-IN" sz="2800" dirty="0">
                <a:latin typeface="Times New Roman, serif"/>
              </a:rPr>
              <a:t>Rajdeep </a:t>
            </a:r>
            <a:r>
              <a:rPr lang="en-IN" sz="2800" dirty="0" err="1">
                <a:latin typeface="Times New Roman, serif"/>
              </a:rPr>
              <a:t>Asane</a:t>
            </a:r>
            <a:r>
              <a:rPr lang="en-IN" sz="2800" dirty="0">
                <a:effectLst/>
                <a:latin typeface="Times New Roman, serif"/>
              </a:rPr>
              <a:t>                                                           2215029</a:t>
            </a:r>
            <a:endParaRPr lang="en-IN" sz="2800" dirty="0">
              <a:effectLst/>
            </a:endParaRPr>
          </a:p>
          <a:p>
            <a:pPr algn="l" rtl="0">
              <a:lnSpc>
                <a:spcPct val="115000"/>
              </a:lnSpc>
            </a:pPr>
            <a:r>
              <a:rPr lang="en-IN" sz="2800" dirty="0">
                <a:latin typeface="Times New Roman, serif"/>
              </a:rPr>
              <a:t>Prathamesh Pawar</a:t>
            </a:r>
            <a:r>
              <a:rPr lang="en-IN" sz="2800" dirty="0">
                <a:effectLst/>
                <a:latin typeface="Times New Roman, serif"/>
              </a:rPr>
              <a:t>                                                     2215059</a:t>
            </a:r>
          </a:p>
          <a:p>
            <a:pPr algn="l" rtl="0">
              <a:lnSpc>
                <a:spcPct val="115000"/>
              </a:lnSpc>
            </a:pPr>
            <a:r>
              <a:rPr lang="en-IN" sz="2800" dirty="0" err="1">
                <a:latin typeface="Times New Roman, serif"/>
              </a:rPr>
              <a:t>Harshal</a:t>
            </a:r>
            <a:r>
              <a:rPr lang="en-IN" sz="2800" dirty="0">
                <a:latin typeface="Times New Roman, serif"/>
              </a:rPr>
              <a:t> Chaudhari                                                     D2225002</a:t>
            </a:r>
            <a:endParaRPr lang="en-IN" sz="2800" dirty="0">
              <a:effectLst/>
            </a:endParaRPr>
          </a:p>
          <a:p>
            <a:pPr algn="l" rtl="0">
              <a:lnSpc>
                <a:spcPct val="115000"/>
              </a:lnSpc>
            </a:pPr>
            <a:endParaRPr lang="en-IN" sz="2800" dirty="0"/>
          </a:p>
        </p:txBody>
      </p:sp>
    </p:spTree>
    <p:extLst>
      <p:ext uri="{BB962C8B-B14F-4D97-AF65-F5344CB8AC3E}">
        <p14:creationId xmlns:p14="http://schemas.microsoft.com/office/powerpoint/2010/main" val="1927899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C8CA6883-ED80-2CC6-CC9D-D15732E456CF}"/>
              </a:ext>
            </a:extLst>
          </p:cNvPr>
          <p:cNvSpPr/>
          <p:nvPr/>
        </p:nvSpPr>
        <p:spPr>
          <a:xfrm>
            <a:off x="2319867" y="643467"/>
            <a:ext cx="3251200" cy="1168400"/>
          </a:xfrm>
          <a:prstGeom prst="roundRect">
            <a:avLst/>
          </a:prstGeom>
          <a:solidFill>
            <a:schemeClr val="accent1">
              <a:lumMod val="75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IN" sz="3600" dirty="0"/>
              <a:t>INDEX</a:t>
            </a:r>
          </a:p>
        </p:txBody>
      </p:sp>
      <p:sp>
        <p:nvSpPr>
          <p:cNvPr id="7" name="Rectangle: Rounded Corners 6">
            <a:extLst>
              <a:ext uri="{FF2B5EF4-FFF2-40B4-BE49-F238E27FC236}">
                <a16:creationId xmlns:a16="http://schemas.microsoft.com/office/drawing/2014/main" id="{6D4A328A-DD45-D8A9-583F-F723A37E96C9}"/>
              </a:ext>
            </a:extLst>
          </p:cNvPr>
          <p:cNvSpPr/>
          <p:nvPr/>
        </p:nvSpPr>
        <p:spPr>
          <a:xfrm>
            <a:off x="2319867" y="2184400"/>
            <a:ext cx="7027333" cy="4385733"/>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marL="285750" indent="-285750">
              <a:buFont typeface="Arial" panose="020B0604020202020204" pitchFamily="34" charset="0"/>
              <a:buChar char="•"/>
            </a:pPr>
            <a:r>
              <a:rPr lang="en-IN" sz="3200" b="1" dirty="0">
                <a:latin typeface="Arial" panose="020B0604020202020204" pitchFamily="34" charset="0"/>
                <a:cs typeface="Arial" panose="020B0604020202020204" pitchFamily="34" charset="0"/>
              </a:rPr>
              <a:t>PROBLEM STATEMENT</a:t>
            </a:r>
          </a:p>
          <a:p>
            <a:pPr marL="285750" indent="-285750">
              <a:buFont typeface="Arial" panose="020B0604020202020204" pitchFamily="34" charset="0"/>
              <a:buChar char="•"/>
            </a:pPr>
            <a:r>
              <a:rPr lang="en-IN" sz="3200" b="1" dirty="0">
                <a:latin typeface="Arial" panose="020B0604020202020204" pitchFamily="34" charset="0"/>
                <a:cs typeface="Arial" panose="020B0604020202020204" pitchFamily="34" charset="0"/>
              </a:rPr>
              <a:t>INTRODUCTION</a:t>
            </a:r>
          </a:p>
          <a:p>
            <a:pPr marL="285750" indent="-285750">
              <a:buFont typeface="Arial" panose="020B0604020202020204" pitchFamily="34" charset="0"/>
              <a:buChar char="•"/>
            </a:pPr>
            <a:r>
              <a:rPr lang="en-IN" sz="3200" b="1" dirty="0">
                <a:latin typeface="Arial" panose="020B0604020202020204" pitchFamily="34" charset="0"/>
                <a:cs typeface="Arial" panose="020B0604020202020204" pitchFamily="34" charset="0"/>
              </a:rPr>
              <a:t>SIGNIFICANCE</a:t>
            </a:r>
          </a:p>
          <a:p>
            <a:pPr marL="285750" indent="-285750">
              <a:buFont typeface="Arial" panose="020B0604020202020204" pitchFamily="34" charset="0"/>
              <a:buChar char="•"/>
            </a:pPr>
            <a:r>
              <a:rPr lang="en-IN" sz="3200" b="1" dirty="0">
                <a:latin typeface="Arial" panose="020B0604020202020204" pitchFamily="34" charset="0"/>
                <a:cs typeface="Arial" panose="020B0604020202020204" pitchFamily="34" charset="0"/>
              </a:rPr>
              <a:t>BASIC STRUCTURE</a:t>
            </a:r>
          </a:p>
          <a:p>
            <a:pPr marL="285750" indent="-285750">
              <a:buFont typeface="Arial" panose="020B0604020202020204" pitchFamily="34" charset="0"/>
              <a:buChar char="•"/>
            </a:pPr>
            <a:r>
              <a:rPr lang="en-IN" sz="3200" b="1" i="0" dirty="0">
                <a:solidFill>
                  <a:srgbClr val="303030"/>
                </a:solidFill>
                <a:effectLst/>
                <a:latin typeface="Arial" panose="020B0604020202020204" pitchFamily="34" charset="0"/>
                <a:cs typeface="Arial" panose="020B0604020202020204" pitchFamily="34" charset="0"/>
              </a:rPr>
              <a:t>CONCLUSION</a:t>
            </a:r>
          </a:p>
          <a:p>
            <a:pPr marL="285750" indent="-285750">
              <a:buFont typeface="Arial" panose="020B0604020202020204" pitchFamily="34" charset="0"/>
              <a:buChar char="•"/>
            </a:pPr>
            <a:endParaRPr lang="en-IN" sz="2800" dirty="0"/>
          </a:p>
        </p:txBody>
      </p:sp>
    </p:spTree>
    <p:extLst>
      <p:ext uri="{BB962C8B-B14F-4D97-AF65-F5344CB8AC3E}">
        <p14:creationId xmlns:p14="http://schemas.microsoft.com/office/powerpoint/2010/main" val="2487327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B2F06B8F-B4A8-D92E-DB16-FC0F78D7B6B2}"/>
              </a:ext>
            </a:extLst>
          </p:cNvPr>
          <p:cNvSpPr/>
          <p:nvPr/>
        </p:nvSpPr>
        <p:spPr>
          <a:xfrm>
            <a:off x="1566153" y="963038"/>
            <a:ext cx="4902741" cy="10116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dirty="0">
                <a:solidFill>
                  <a:schemeClr val="tx1">
                    <a:lumMod val="85000"/>
                    <a:lumOff val="15000"/>
                  </a:schemeClr>
                </a:solidFill>
              </a:rPr>
              <a:t>Problem Statement </a:t>
            </a:r>
          </a:p>
        </p:txBody>
      </p:sp>
      <p:sp>
        <p:nvSpPr>
          <p:cNvPr id="4" name="Content Placeholder 3">
            <a:extLst>
              <a:ext uri="{FF2B5EF4-FFF2-40B4-BE49-F238E27FC236}">
                <a16:creationId xmlns:a16="http://schemas.microsoft.com/office/drawing/2014/main" id="{CC8A5DD0-2171-8065-72C7-DA0506C442BE}"/>
              </a:ext>
            </a:extLst>
          </p:cNvPr>
          <p:cNvSpPr>
            <a:spLocks noGrp="1"/>
          </p:cNvSpPr>
          <p:nvPr>
            <p:ph idx="1"/>
          </p:nvPr>
        </p:nvSpPr>
        <p:spPr/>
        <p:txBody>
          <a:bodyPr>
            <a:normAutofit/>
          </a:bodyPr>
          <a:lstStyle/>
          <a:p>
            <a:r>
              <a:rPr lang="en-US" sz="3200" b="1" i="0" dirty="0">
                <a:solidFill>
                  <a:schemeClr val="tx1">
                    <a:lumMod val="85000"/>
                    <a:lumOff val="15000"/>
                  </a:schemeClr>
                </a:solidFill>
                <a:effectLst/>
                <a:latin typeface="Google Sans"/>
              </a:rPr>
              <a:t>Face recognition-based attendance system is a problem of recognizing face for taking attendance by using face recognition technology based on high definition monitor video and other information technology. facial image for easier recognition</a:t>
            </a:r>
            <a:endParaRPr lang="en-IN" sz="3200" b="1" dirty="0">
              <a:solidFill>
                <a:schemeClr val="tx1">
                  <a:lumMod val="85000"/>
                  <a:lumOff val="15000"/>
                </a:schemeClr>
              </a:solidFill>
            </a:endParaRPr>
          </a:p>
        </p:txBody>
      </p:sp>
    </p:spTree>
    <p:extLst>
      <p:ext uri="{BB962C8B-B14F-4D97-AF65-F5344CB8AC3E}">
        <p14:creationId xmlns:p14="http://schemas.microsoft.com/office/powerpoint/2010/main" val="251746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705C81F-F8D0-CF4E-2DE7-EE3B259D2697}"/>
              </a:ext>
            </a:extLst>
          </p:cNvPr>
          <p:cNvSpPr txBox="1"/>
          <p:nvPr/>
        </p:nvSpPr>
        <p:spPr>
          <a:xfrm>
            <a:off x="1151467" y="1426402"/>
            <a:ext cx="10549466" cy="954107"/>
          </a:xfrm>
          <a:prstGeom prst="rect">
            <a:avLst/>
          </a:prstGeom>
          <a:noFill/>
        </p:spPr>
        <p:txBody>
          <a:bodyPr wrap="square">
            <a:spAutoFit/>
          </a:bodyPr>
          <a:lstStyle/>
          <a:p>
            <a:pPr marR="0" algn="l" rtl="0"/>
            <a:r>
              <a:rPr lang="en-US" sz="2800" b="0" i="0" u="none" strike="noStrike" dirty="0">
                <a:solidFill>
                  <a:srgbClr val="1F497D"/>
                </a:solidFill>
                <a:latin typeface="Calibri" panose="020F0502020204030204" pitchFamily="34" charset="0"/>
              </a:rPr>
              <a:t>Traditionally attendance is marked manually by teachers and they must make sure correct attendance is marked for respective student. </a:t>
            </a:r>
            <a:endParaRPr lang="en-US" sz="2800" b="0" i="0" u="none" strike="noStrike" dirty="0">
              <a:solidFill>
                <a:prstClr val="black"/>
              </a:solidFill>
              <a:latin typeface="Mangal" panose="02040503050203030202" pitchFamily="18" charset="0"/>
            </a:endParaRPr>
          </a:p>
        </p:txBody>
      </p:sp>
      <p:pic>
        <p:nvPicPr>
          <p:cNvPr id="9" name="Picture 8">
            <a:extLst>
              <a:ext uri="{FF2B5EF4-FFF2-40B4-BE49-F238E27FC236}">
                <a16:creationId xmlns:a16="http://schemas.microsoft.com/office/drawing/2014/main" id="{9A59CDD5-99A2-4DB3-405B-329AD2038470}"/>
              </a:ext>
            </a:extLst>
          </p:cNvPr>
          <p:cNvPicPr>
            <a:picLocks noChangeAspect="1"/>
          </p:cNvPicPr>
          <p:nvPr/>
        </p:nvPicPr>
        <p:blipFill>
          <a:blip r:embed="rId2"/>
          <a:stretch>
            <a:fillRect/>
          </a:stretch>
        </p:blipFill>
        <p:spPr>
          <a:xfrm>
            <a:off x="2664189" y="2606842"/>
            <a:ext cx="2286060" cy="1500000"/>
          </a:xfrm>
          <a:prstGeom prst="rect">
            <a:avLst/>
          </a:prstGeom>
        </p:spPr>
      </p:pic>
      <p:sp>
        <p:nvSpPr>
          <p:cNvPr id="11" name="TextBox 10">
            <a:extLst>
              <a:ext uri="{FF2B5EF4-FFF2-40B4-BE49-F238E27FC236}">
                <a16:creationId xmlns:a16="http://schemas.microsoft.com/office/drawing/2014/main" id="{E0BEB261-A9E1-110E-E827-BFE5566D5B03}"/>
              </a:ext>
            </a:extLst>
          </p:cNvPr>
          <p:cNvSpPr txBox="1"/>
          <p:nvPr/>
        </p:nvSpPr>
        <p:spPr>
          <a:xfrm>
            <a:off x="1151467" y="4508268"/>
            <a:ext cx="10532533" cy="954107"/>
          </a:xfrm>
          <a:prstGeom prst="rect">
            <a:avLst/>
          </a:prstGeom>
          <a:noFill/>
        </p:spPr>
        <p:txBody>
          <a:bodyPr wrap="square">
            <a:spAutoFit/>
          </a:bodyPr>
          <a:lstStyle/>
          <a:p>
            <a:pPr marR="0" algn="l" rtl="0"/>
            <a:r>
              <a:rPr lang="en-US" sz="2800" b="0" i="0" u="none" strike="noStrike" dirty="0">
                <a:solidFill>
                  <a:srgbClr val="000000"/>
                </a:solidFill>
                <a:latin typeface="Calibri" panose="020F0502020204030204" pitchFamily="34" charset="0"/>
              </a:rPr>
              <a:t>This whole process wastes some of lecture time and part of correct information is missed due to fraudulent and proxy cases.</a:t>
            </a:r>
            <a:endParaRPr lang="en-US" sz="2800" b="0" i="0" u="none" strike="noStrike" dirty="0">
              <a:solidFill>
                <a:prstClr val="black"/>
              </a:solidFill>
              <a:latin typeface="Mangal" panose="02040503050203030202" pitchFamily="18" charset="0"/>
            </a:endParaRPr>
          </a:p>
        </p:txBody>
      </p:sp>
      <p:pic>
        <p:nvPicPr>
          <p:cNvPr id="13" name="Picture 12">
            <a:extLst>
              <a:ext uri="{FF2B5EF4-FFF2-40B4-BE49-F238E27FC236}">
                <a16:creationId xmlns:a16="http://schemas.microsoft.com/office/drawing/2014/main" id="{96D001E4-6A4F-7D4E-291E-F2586F946650}"/>
              </a:ext>
            </a:extLst>
          </p:cNvPr>
          <p:cNvPicPr>
            <a:picLocks noChangeAspect="1"/>
          </p:cNvPicPr>
          <p:nvPr/>
        </p:nvPicPr>
        <p:blipFill>
          <a:blip r:embed="rId3"/>
          <a:stretch>
            <a:fillRect/>
          </a:stretch>
        </p:blipFill>
        <p:spPr>
          <a:xfrm>
            <a:off x="7241752" y="2725890"/>
            <a:ext cx="1704762" cy="1380952"/>
          </a:xfrm>
          <a:prstGeom prst="rect">
            <a:avLst/>
          </a:prstGeom>
        </p:spPr>
      </p:pic>
      <p:sp>
        <p:nvSpPr>
          <p:cNvPr id="14" name="Rectangle: Rounded Corners 13">
            <a:extLst>
              <a:ext uri="{FF2B5EF4-FFF2-40B4-BE49-F238E27FC236}">
                <a16:creationId xmlns:a16="http://schemas.microsoft.com/office/drawing/2014/main" id="{94669635-3E39-15ED-1A60-4DC0CD521529}"/>
              </a:ext>
            </a:extLst>
          </p:cNvPr>
          <p:cNvSpPr/>
          <p:nvPr/>
        </p:nvSpPr>
        <p:spPr>
          <a:xfrm>
            <a:off x="1274233" y="478135"/>
            <a:ext cx="3467100" cy="948267"/>
          </a:xfrm>
          <a:prstGeom prst="roundRect">
            <a:avLst/>
          </a:prstGeom>
          <a:solidFill>
            <a:schemeClr val="accent1">
              <a:lumMod val="75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IN" sz="3200" dirty="0"/>
              <a:t>INTRODUCTION</a:t>
            </a:r>
          </a:p>
        </p:txBody>
      </p:sp>
    </p:spTree>
    <p:extLst>
      <p:ext uri="{BB962C8B-B14F-4D97-AF65-F5344CB8AC3E}">
        <p14:creationId xmlns:p14="http://schemas.microsoft.com/office/powerpoint/2010/main" val="1209433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54C57A-0C42-25CE-ED64-6ECEBF43EC90}"/>
              </a:ext>
            </a:extLst>
          </p:cNvPr>
          <p:cNvSpPr txBox="1"/>
          <p:nvPr/>
        </p:nvSpPr>
        <p:spPr>
          <a:xfrm>
            <a:off x="1308100" y="297934"/>
            <a:ext cx="6104466" cy="707886"/>
          </a:xfrm>
          <a:prstGeom prst="rect">
            <a:avLst/>
          </a:prstGeom>
          <a:noFill/>
        </p:spPr>
        <p:txBody>
          <a:bodyPr wrap="square">
            <a:spAutoFit/>
          </a:bodyPr>
          <a:lstStyle/>
          <a:p>
            <a:pPr marR="0" algn="l" rtl="0"/>
            <a:r>
              <a:rPr lang="en-IN" sz="4000" b="1" i="0" u="none" strike="noStrike" dirty="0">
                <a:solidFill>
                  <a:srgbClr val="000000"/>
                </a:solidFill>
                <a:latin typeface="Arial" panose="020B0604020202020204" pitchFamily="34" charset="0"/>
              </a:rPr>
              <a:t>                            </a:t>
            </a:r>
            <a:endParaRPr lang="en-IN" sz="4000" b="0" i="0" u="none" strike="noStrike" dirty="0">
              <a:solidFill>
                <a:prstClr val="black"/>
              </a:solidFill>
              <a:latin typeface="Mangal" panose="02040503050203030202" pitchFamily="18" charset="0"/>
            </a:endParaRPr>
          </a:p>
        </p:txBody>
      </p:sp>
      <p:sp>
        <p:nvSpPr>
          <p:cNvPr id="5" name="TextBox 4">
            <a:extLst>
              <a:ext uri="{FF2B5EF4-FFF2-40B4-BE49-F238E27FC236}">
                <a16:creationId xmlns:a16="http://schemas.microsoft.com/office/drawing/2014/main" id="{FE99E068-56C7-1BE1-DFDB-EAC32AB7DC5A}"/>
              </a:ext>
            </a:extLst>
          </p:cNvPr>
          <p:cNvSpPr txBox="1"/>
          <p:nvPr/>
        </p:nvSpPr>
        <p:spPr>
          <a:xfrm>
            <a:off x="1308100" y="2040805"/>
            <a:ext cx="10223500" cy="3539430"/>
          </a:xfrm>
          <a:prstGeom prst="rect">
            <a:avLst/>
          </a:prstGeom>
          <a:noFill/>
        </p:spPr>
        <p:txBody>
          <a:bodyPr wrap="square">
            <a:spAutoFit/>
          </a:bodyPr>
          <a:lstStyle/>
          <a:p>
            <a:pPr marR="0" algn="l" rtl="0"/>
            <a:r>
              <a:rPr lang="en-US" sz="3200" b="0" i="0" u="none" strike="noStrike" dirty="0">
                <a:solidFill>
                  <a:schemeClr val="tx2">
                    <a:lumMod val="75000"/>
                  </a:schemeClr>
                </a:solidFill>
                <a:latin typeface="Calibri" panose="020F0502020204030204" pitchFamily="34" charset="0"/>
              </a:rPr>
              <a:t>In order to determine classroom attendance, face detection and face recognition are performed. Face detection is used to determine the location of the faces in the classroom image and extract sub images for each face. Then, in face recognition, the face images detected will be compared with the data base consisting of images of students in the class, and attendance will be recorded accordingly.</a:t>
            </a:r>
            <a:endParaRPr lang="en-US" sz="3200" b="0" i="0" u="none" strike="noStrike" dirty="0">
              <a:solidFill>
                <a:schemeClr val="tx2">
                  <a:lumMod val="75000"/>
                </a:schemeClr>
              </a:solidFill>
              <a:latin typeface="Mangal" panose="02040503050203030202" pitchFamily="18" charset="0"/>
            </a:endParaRPr>
          </a:p>
        </p:txBody>
      </p:sp>
      <p:sp>
        <p:nvSpPr>
          <p:cNvPr id="6" name="Rectangle: Rounded Corners 5">
            <a:extLst>
              <a:ext uri="{FF2B5EF4-FFF2-40B4-BE49-F238E27FC236}">
                <a16:creationId xmlns:a16="http://schemas.microsoft.com/office/drawing/2014/main" id="{507D6A1A-4EA7-FD88-DFDD-F97C72F6D6A5}"/>
              </a:ext>
            </a:extLst>
          </p:cNvPr>
          <p:cNvSpPr/>
          <p:nvPr/>
        </p:nvSpPr>
        <p:spPr>
          <a:xfrm>
            <a:off x="1308100" y="829733"/>
            <a:ext cx="3467100" cy="948267"/>
          </a:xfrm>
          <a:prstGeom prst="roundRect">
            <a:avLst/>
          </a:prstGeom>
          <a:solidFill>
            <a:schemeClr val="accent1">
              <a:lumMod val="75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IN" sz="3200" dirty="0"/>
              <a:t>INTRODUCTION</a:t>
            </a:r>
          </a:p>
        </p:txBody>
      </p:sp>
    </p:spTree>
    <p:extLst>
      <p:ext uri="{BB962C8B-B14F-4D97-AF65-F5344CB8AC3E}">
        <p14:creationId xmlns:p14="http://schemas.microsoft.com/office/powerpoint/2010/main" val="1120330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3F4861-5457-0DDB-C3FE-F4C32205B25C}"/>
              </a:ext>
            </a:extLst>
          </p:cNvPr>
          <p:cNvPicPr>
            <a:picLocks noChangeAspect="1"/>
          </p:cNvPicPr>
          <p:nvPr/>
        </p:nvPicPr>
        <p:blipFill>
          <a:blip r:embed="rId2"/>
          <a:stretch>
            <a:fillRect/>
          </a:stretch>
        </p:blipFill>
        <p:spPr>
          <a:xfrm>
            <a:off x="3140604" y="1763871"/>
            <a:ext cx="7798329" cy="4653147"/>
          </a:xfrm>
          <a:prstGeom prst="rect">
            <a:avLst/>
          </a:prstGeom>
        </p:spPr>
      </p:pic>
      <p:sp>
        <p:nvSpPr>
          <p:cNvPr id="6" name="Rectangle: Rounded Corners 5">
            <a:extLst>
              <a:ext uri="{FF2B5EF4-FFF2-40B4-BE49-F238E27FC236}">
                <a16:creationId xmlns:a16="http://schemas.microsoft.com/office/drawing/2014/main" id="{97E89336-D2BB-4BD9-27B1-0899610C4AB0}"/>
              </a:ext>
            </a:extLst>
          </p:cNvPr>
          <p:cNvSpPr/>
          <p:nvPr/>
        </p:nvSpPr>
        <p:spPr>
          <a:xfrm>
            <a:off x="1253067" y="931333"/>
            <a:ext cx="2336800" cy="1151467"/>
          </a:xfrm>
          <a:prstGeom prst="roundRect">
            <a:avLst/>
          </a:prstGeom>
          <a:solidFill>
            <a:schemeClr val="accent1">
              <a:lumMod val="75000"/>
            </a:schemeClr>
          </a:solidFill>
        </p:spPr>
        <p:style>
          <a:lnRef idx="1">
            <a:schemeClr val="accent5"/>
          </a:lnRef>
          <a:fillRef idx="2">
            <a:schemeClr val="accent5"/>
          </a:fillRef>
          <a:effectRef idx="1">
            <a:schemeClr val="accent5"/>
          </a:effectRef>
          <a:fontRef idx="minor">
            <a:schemeClr val="dk1"/>
          </a:fontRef>
        </p:style>
        <p:txBody>
          <a:bodyPr rtlCol="0" anchor="ctr"/>
          <a:lstStyle/>
          <a:p>
            <a:pPr marR="0" algn="ctr" rtl="0"/>
            <a:r>
              <a:rPr lang="en-IN" sz="3200" i="0" u="none" strike="noStrike" dirty="0">
                <a:solidFill>
                  <a:srgbClr val="000000"/>
                </a:solidFill>
                <a:latin typeface="+mj-lt"/>
                <a:cs typeface="Arial" panose="020B0604020202020204" pitchFamily="34" charset="0"/>
              </a:rPr>
              <a:t>Significance</a:t>
            </a:r>
            <a:endParaRPr lang="en-IN" sz="3200" i="0" u="none" strike="noStrike" dirty="0">
              <a:solidFill>
                <a:prstClr val="black"/>
              </a:solidFill>
              <a:latin typeface="+mj-lt"/>
              <a:cs typeface="Arial" panose="020B0604020202020204" pitchFamily="34" charset="0"/>
            </a:endParaRPr>
          </a:p>
        </p:txBody>
      </p:sp>
    </p:spTree>
    <p:extLst>
      <p:ext uri="{BB962C8B-B14F-4D97-AF65-F5344CB8AC3E}">
        <p14:creationId xmlns:p14="http://schemas.microsoft.com/office/powerpoint/2010/main" val="257598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3B1AE3-6329-D5AE-8EF2-D99FDE9082DB}"/>
              </a:ext>
            </a:extLst>
          </p:cNvPr>
          <p:cNvPicPr>
            <a:picLocks noChangeAspect="1"/>
          </p:cNvPicPr>
          <p:nvPr/>
        </p:nvPicPr>
        <p:blipFill>
          <a:blip r:embed="rId2"/>
          <a:stretch>
            <a:fillRect/>
          </a:stretch>
        </p:blipFill>
        <p:spPr>
          <a:xfrm>
            <a:off x="1635560" y="0"/>
            <a:ext cx="8920879" cy="6858000"/>
          </a:xfrm>
          <a:prstGeom prst="rect">
            <a:avLst/>
          </a:prstGeom>
        </p:spPr>
      </p:pic>
    </p:spTree>
    <p:extLst>
      <p:ext uri="{BB962C8B-B14F-4D97-AF65-F5344CB8AC3E}">
        <p14:creationId xmlns:p14="http://schemas.microsoft.com/office/powerpoint/2010/main" val="16345432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8C7C7E-9B30-B344-8E8E-8F6BD57C6D4E}"/>
              </a:ext>
            </a:extLst>
          </p:cNvPr>
          <p:cNvPicPr>
            <a:picLocks noChangeAspect="1"/>
          </p:cNvPicPr>
          <p:nvPr/>
        </p:nvPicPr>
        <p:blipFill>
          <a:blip r:embed="rId2"/>
          <a:stretch>
            <a:fillRect/>
          </a:stretch>
        </p:blipFill>
        <p:spPr>
          <a:xfrm>
            <a:off x="1524332" y="428"/>
            <a:ext cx="9143336" cy="6857143"/>
          </a:xfrm>
          <a:prstGeom prst="rect">
            <a:avLst/>
          </a:prstGeom>
        </p:spPr>
      </p:pic>
    </p:spTree>
    <p:extLst>
      <p:ext uri="{BB962C8B-B14F-4D97-AF65-F5344CB8AC3E}">
        <p14:creationId xmlns:p14="http://schemas.microsoft.com/office/powerpoint/2010/main" val="2701991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79F9F3-BF39-B96F-6888-162C282AB264}"/>
              </a:ext>
            </a:extLst>
          </p:cNvPr>
          <p:cNvSpPr>
            <a:spLocks noGrp="1"/>
          </p:cNvSpPr>
          <p:nvPr>
            <p:ph idx="1"/>
          </p:nvPr>
        </p:nvSpPr>
        <p:spPr>
          <a:xfrm>
            <a:off x="1141412" y="2249486"/>
            <a:ext cx="9905999" cy="2667954"/>
          </a:xfrm>
        </p:spPr>
        <p:txBody>
          <a:bodyPr>
            <a:normAutofit/>
          </a:bodyPr>
          <a:lstStyle/>
          <a:p>
            <a:r>
              <a:rPr lang="en-US" sz="2800" b="1" i="0" u="none" strike="noStrike" dirty="0">
                <a:solidFill>
                  <a:srgbClr val="000000"/>
                </a:solidFill>
                <a:latin typeface="Arial" panose="020B0604020202020204" pitchFamily="34" charset="0"/>
                <a:cs typeface="Arial" panose="020B0604020202020204" pitchFamily="34" charset="0"/>
              </a:rPr>
              <a:t>Face detection is a computer technology used to identify human faces in digital images by determining the location of the faces in the image and extract sub images for each face.</a:t>
            </a:r>
            <a:endParaRPr lang="en-US" sz="2800" b="1" i="0" u="none" strike="noStrike" dirty="0">
              <a:solidFill>
                <a:prstClr val="black"/>
              </a:solidFill>
              <a:latin typeface="Arial" panose="020B0604020202020204" pitchFamily="34" charset="0"/>
              <a:cs typeface="Arial" panose="020B0604020202020204" pitchFamily="34" charset="0"/>
            </a:endParaRPr>
          </a:p>
          <a:p>
            <a:endParaRPr lang="en-IN" sz="3200" dirty="0"/>
          </a:p>
        </p:txBody>
      </p:sp>
      <p:sp>
        <p:nvSpPr>
          <p:cNvPr id="4" name="Rectangle: Rounded Corners 3">
            <a:extLst>
              <a:ext uri="{FF2B5EF4-FFF2-40B4-BE49-F238E27FC236}">
                <a16:creationId xmlns:a16="http://schemas.microsoft.com/office/drawing/2014/main" id="{815878C2-CE7F-797D-9E27-B1435AAEE7E1}"/>
              </a:ext>
            </a:extLst>
          </p:cNvPr>
          <p:cNvSpPr/>
          <p:nvPr/>
        </p:nvSpPr>
        <p:spPr>
          <a:xfrm>
            <a:off x="1320800" y="914401"/>
            <a:ext cx="3945467" cy="1168400"/>
          </a:xfrm>
          <a:prstGeom prst="roundRect">
            <a:avLst/>
          </a:prstGeom>
          <a:solidFill>
            <a:schemeClr val="accent1">
              <a:lumMod val="75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IN" sz="2800" dirty="0"/>
              <a:t>FACE DETECTION</a:t>
            </a:r>
          </a:p>
        </p:txBody>
      </p:sp>
    </p:spTree>
    <p:extLst>
      <p:ext uri="{BB962C8B-B14F-4D97-AF65-F5344CB8AC3E}">
        <p14:creationId xmlns:p14="http://schemas.microsoft.com/office/powerpoint/2010/main" val="3581725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D1F3C-298A-70F3-429E-ADA91015FF5C}"/>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987C1275-29C8-C4E6-D4F5-3AAF6E85682B}"/>
              </a:ext>
            </a:extLst>
          </p:cNvPr>
          <p:cNvSpPr>
            <a:spLocks noGrp="1"/>
          </p:cNvSpPr>
          <p:nvPr>
            <p:ph idx="1"/>
          </p:nvPr>
        </p:nvSpPr>
        <p:spPr/>
        <p:txBody>
          <a:bodyPr>
            <a:normAutofit/>
          </a:bodyPr>
          <a:lstStyle/>
          <a:p>
            <a:r>
              <a:rPr lang="en-US" sz="2800" b="1" i="0" dirty="0">
                <a:solidFill>
                  <a:schemeClr val="tx1">
                    <a:lumMod val="85000"/>
                    <a:lumOff val="15000"/>
                  </a:schemeClr>
                </a:solidFill>
                <a:effectLst/>
                <a:latin typeface="Arial" panose="020B0604020202020204" pitchFamily="34" charset="0"/>
                <a:cs typeface="Arial" panose="020B0604020202020204" pitchFamily="34" charset="0"/>
              </a:rPr>
              <a:t>advances in digital technology, the quality of facial verification in face recognition attendance systems has improved, and the acceptance rate is relatively high</a:t>
            </a:r>
          </a:p>
          <a:p>
            <a:r>
              <a:rPr lang="en-US" sz="2800" b="1" i="0" dirty="0">
                <a:solidFill>
                  <a:schemeClr val="tx1">
                    <a:lumMod val="85000"/>
                    <a:lumOff val="15000"/>
                  </a:schemeClr>
                </a:solidFill>
                <a:effectLst/>
                <a:latin typeface="Arial" panose="020B0604020202020204" pitchFamily="34" charset="0"/>
                <a:cs typeface="Arial" panose="020B0604020202020204" pitchFamily="34" charset="0"/>
              </a:rPr>
              <a:t> Face recognition attendance systems’ appeal is enhanced further by their fast image processing time and ease of integration</a:t>
            </a:r>
            <a:endParaRPr lang="en-IN" sz="2800" b="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C0E5F4E3-C19A-9D73-12B3-AFDC5B2EE6FD}"/>
              </a:ext>
            </a:extLst>
          </p:cNvPr>
          <p:cNvSpPr/>
          <p:nvPr/>
        </p:nvSpPr>
        <p:spPr>
          <a:xfrm>
            <a:off x="1141412" y="1066799"/>
            <a:ext cx="5117148" cy="90424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i="0" dirty="0">
                <a:solidFill>
                  <a:srgbClr val="303030"/>
                </a:solidFill>
                <a:effectLst/>
                <a:latin typeface="Poppins" panose="020B0502040204020203" pitchFamily="2" charset="0"/>
              </a:rPr>
              <a:t>Conclusion</a:t>
            </a:r>
            <a:endParaRPr lang="en-IN" sz="3200" b="0" i="0" dirty="0">
              <a:solidFill>
                <a:srgbClr val="303030"/>
              </a:solidFill>
              <a:effectLst/>
              <a:latin typeface="Poppins" panose="020B0502040204020203" pitchFamily="2" charset="0"/>
            </a:endParaRPr>
          </a:p>
          <a:p>
            <a:pPr algn="ctr"/>
            <a:endParaRPr lang="en-IN" dirty="0"/>
          </a:p>
        </p:txBody>
      </p:sp>
    </p:spTree>
    <p:extLst>
      <p:ext uri="{BB962C8B-B14F-4D97-AF65-F5344CB8AC3E}">
        <p14:creationId xmlns:p14="http://schemas.microsoft.com/office/powerpoint/2010/main" val="1078935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79AE2E9-69C2-DBDC-B156-9AAAECC484D9}"/>
              </a:ext>
            </a:extLst>
          </p:cNvPr>
          <p:cNvSpPr/>
          <p:nvPr/>
        </p:nvSpPr>
        <p:spPr>
          <a:xfrm>
            <a:off x="3031067" y="1490133"/>
            <a:ext cx="6129866" cy="3877734"/>
          </a:xfrm>
          <a:prstGeom prst="roundRect">
            <a:avLst/>
          </a:prstGeom>
          <a:solidFill>
            <a:schemeClr val="accent1">
              <a:lumMod val="75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IN" sz="3600" dirty="0"/>
              <a:t>THANK YOU</a:t>
            </a:r>
          </a:p>
        </p:txBody>
      </p:sp>
    </p:spTree>
    <p:extLst>
      <p:ext uri="{BB962C8B-B14F-4D97-AF65-F5344CB8AC3E}">
        <p14:creationId xmlns:p14="http://schemas.microsoft.com/office/powerpoint/2010/main" val="10861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137</TotalTime>
  <Words>272</Words>
  <Application>Microsoft Office PowerPoint</Application>
  <PresentationFormat>Widescreen</PresentationFormat>
  <Paragraphs>30</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Google Sans</vt:lpstr>
      <vt:lpstr>Lato</vt:lpstr>
      <vt:lpstr>Mangal</vt:lpstr>
      <vt:lpstr>Poppins</vt:lpstr>
      <vt:lpstr>Times New Roman, serif</vt:lpstr>
      <vt:lpstr>Tw Cen MT</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Bharti Hotchandani</dc:creator>
  <cp:lastModifiedBy>omkar rasal</cp:lastModifiedBy>
  <cp:revision>3</cp:revision>
  <dcterms:created xsi:type="dcterms:W3CDTF">2022-06-06T17:39:44Z</dcterms:created>
  <dcterms:modified xsi:type="dcterms:W3CDTF">2023-08-03T07:22:33Z</dcterms:modified>
</cp:coreProperties>
</file>